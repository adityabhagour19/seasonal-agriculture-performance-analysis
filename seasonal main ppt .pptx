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3.xml" ContentType="application/xml"/>
  <Override PartName="/customXml/itemProps3.xml" ContentType="application/vnd.openxmlformats-officedocument.customXml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media/image1.jpeg" ContentType="image/jpeg"/>
  <Override PartName="/ppt/media/image9.png" ContentType="image/png"/>
  <Override PartName="/ppt/media/image11.png" ContentType="image/png"/>
  <Override PartName="/ppt/media/image5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_rels/notesSlide5.xml.rels" ContentType="application/vnd.openxmlformats-package.relationships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Double-tap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EE9A760F-BB14-4D1C-9ADF-094D3DA2593B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9C8B15-4C09-4759-96D1-0886D365B6AB}" type="slidenum"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2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3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1" name="Date Placeholder 3"/>
          <p:cNvSpPr/>
          <p:nvPr/>
        </p:nvSpPr>
        <p:spPr>
          <a:xfrm>
            <a:off x="660240" y="637884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fld id="{1E2B6A74-9202-482B-BB6B-566AF25E4A88}" type="datetime1">
              <a:rPr b="0" lang="en-US" sz="1100" strike="noStrike" u="none">
                <a:solidFill>
                  <a:schemeClr val="accent2"/>
                </a:solidFill>
                <a:uFillTx/>
                <a:latin typeface="Trebuchet MS"/>
              </a:rPr>
              <a:t>09/08/2026</a:t>
            </a:fld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Footer Placeholder 4"/>
          <p:cNvSpPr/>
          <p:nvPr/>
        </p:nvSpPr>
        <p:spPr>
          <a:xfrm>
            <a:off x="1445400" y="637884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100" strike="noStrike" u="none">
                <a:solidFill>
                  <a:schemeClr val="accent2"/>
                </a:solidFill>
                <a:uFillTx/>
                <a:latin typeface="Trebuchet MS"/>
              </a:rPr>
              <a:t>Annual Review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Slide Number Placeholder 5"/>
          <p:cNvSpPr/>
          <p:nvPr/>
        </p:nvSpPr>
        <p:spPr>
          <a:xfrm>
            <a:off x="8805240" y="637884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8953B007-AEF6-4644-9DBE-C17416C531E1}" type="slidenum">
              <a:rPr b="0" lang="en-US" sz="1100" strike="noStrike" u="none">
                <a:solidFill>
                  <a:schemeClr val="accent4"/>
                </a:solidFill>
                <a:uFillTx/>
                <a:latin typeface="Trebuchet MS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Hexagon 14"/>
          <p:cNvSpPr/>
          <p:nvPr/>
        </p:nvSpPr>
        <p:spPr>
          <a:xfrm>
            <a:off x="740160" y="1382760"/>
            <a:ext cx="1228680" cy="105912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sp>
        <p:nvSpPr>
          <p:cNvPr id="15" name="Hexagon 15"/>
          <p:cNvSpPr/>
          <p:nvPr/>
        </p:nvSpPr>
        <p:spPr>
          <a:xfrm>
            <a:off x="3755160" y="1194480"/>
            <a:ext cx="1665360" cy="143568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sp>
        <p:nvSpPr>
          <p:cNvPr id="16" name="Hexagon 16"/>
          <p:cNvSpPr/>
          <p:nvPr/>
        </p:nvSpPr>
        <p:spPr>
          <a:xfrm>
            <a:off x="3804840" y="5233320"/>
            <a:ext cx="717480" cy="61848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sp>
        <p:nvSpPr>
          <p:cNvPr id="17" name="Hexagon 17"/>
          <p:cNvSpPr/>
          <p:nvPr/>
        </p:nvSpPr>
        <p:spPr>
          <a:xfrm>
            <a:off x="1837800" y="1101240"/>
            <a:ext cx="650880" cy="56088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1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22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23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6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7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8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9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30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1" name="Date Placeholder 3"/>
          <p:cNvSpPr/>
          <p:nvPr/>
        </p:nvSpPr>
        <p:spPr>
          <a:xfrm>
            <a:off x="660240" y="637884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fld id="{0BDADE5E-1D0B-4C9D-96A4-22ED976CF272}" type="datetime1">
              <a:rPr b="0" lang="en-US" sz="1100" strike="noStrike" u="none">
                <a:solidFill>
                  <a:schemeClr val="accent2"/>
                </a:solidFill>
                <a:uFillTx/>
                <a:latin typeface="Trebuchet MS"/>
              </a:rPr>
              <a:t>09/08/2026</a:t>
            </a:fld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Footer Placeholder 4"/>
          <p:cNvSpPr/>
          <p:nvPr/>
        </p:nvSpPr>
        <p:spPr>
          <a:xfrm>
            <a:off x="1445400" y="637884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100" strike="noStrike" u="none">
                <a:solidFill>
                  <a:schemeClr val="accent2"/>
                </a:solidFill>
                <a:uFillTx/>
                <a:latin typeface="Trebuchet MS"/>
              </a:rPr>
              <a:t>Annual Review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Slide Number Placeholder 5"/>
          <p:cNvSpPr/>
          <p:nvPr/>
        </p:nvSpPr>
        <p:spPr>
          <a:xfrm>
            <a:off x="8805240" y="637884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9B1354A4-8FFF-4D36-BA1A-4542FBF4C525}" type="slidenum">
              <a:rPr b="0" lang="en-US" sz="1100" strike="noStrike" u="none">
                <a:solidFill>
                  <a:schemeClr val="accent4"/>
                </a:solidFill>
                <a:uFillTx/>
                <a:latin typeface="Trebuchet MS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ctangle 18"/>
          <p:cNvSpPr/>
          <p:nvPr/>
        </p:nvSpPr>
        <p:spPr>
          <a:xfrm>
            <a:off x="9354600" y="5364000"/>
            <a:ext cx="456480" cy="4564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sp>
        <p:nvSpPr>
          <p:cNvPr id="35" name="Rectangle 20"/>
          <p:cNvSpPr/>
          <p:nvPr/>
        </p:nvSpPr>
        <p:spPr>
          <a:xfrm>
            <a:off x="6692760" y="1699920"/>
            <a:ext cx="318960" cy="318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sp>
        <p:nvSpPr>
          <p:cNvPr id="36" name="Rectangle 22"/>
          <p:cNvSpPr/>
          <p:nvPr/>
        </p:nvSpPr>
        <p:spPr>
          <a:xfrm>
            <a:off x="9354600" y="5897880"/>
            <a:ext cx="179280" cy="179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89640" rIns="896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40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41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42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3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4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45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46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47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48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49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50" name="Date Placeholder 3"/>
          <p:cNvSpPr/>
          <p:nvPr/>
        </p:nvSpPr>
        <p:spPr>
          <a:xfrm>
            <a:off x="660240" y="637884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fld id="{A6E4A17A-7CE4-4373-8370-C85B35CB1F58}" type="datetime1">
              <a:rPr b="0" lang="en-US" sz="1100" strike="noStrike" u="none">
                <a:solidFill>
                  <a:schemeClr val="accent2"/>
                </a:solidFill>
                <a:uFillTx/>
                <a:latin typeface="Trebuchet MS"/>
              </a:rPr>
              <a:t>09/08/2026</a:t>
            </a:fld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Footer Placeholder 4"/>
          <p:cNvSpPr/>
          <p:nvPr/>
        </p:nvSpPr>
        <p:spPr>
          <a:xfrm>
            <a:off x="1445400" y="637884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100" strike="noStrike" u="none">
                <a:solidFill>
                  <a:schemeClr val="accent2"/>
                </a:solidFill>
                <a:uFillTx/>
                <a:latin typeface="Trebuchet MS"/>
              </a:rPr>
              <a:t>Annual Review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Slide Number Placeholder 5"/>
          <p:cNvSpPr/>
          <p:nvPr/>
        </p:nvSpPr>
        <p:spPr>
          <a:xfrm>
            <a:off x="8805240" y="637884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F7C44E40-4330-461F-8AF0-3AC7438F9835}" type="slidenum">
              <a:rPr b="0" lang="en-US" sz="1100" strike="noStrike" u="none">
                <a:solidFill>
                  <a:schemeClr val="accent4"/>
                </a:solidFill>
                <a:uFillTx/>
                <a:latin typeface="Trebuchet MS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Oval 9"/>
          <p:cNvSpPr/>
          <p:nvPr/>
        </p:nvSpPr>
        <p:spPr>
          <a:xfrm>
            <a:off x="7362720" y="443160"/>
            <a:ext cx="361080" cy="36108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accent5"/>
              </a:solidFill>
              <a:uFillTx/>
              <a:latin typeface="Trebuchet MS"/>
            </a:endParaRPr>
          </a:p>
        </p:txBody>
      </p:sp>
      <p:sp>
        <p:nvSpPr>
          <p:cNvPr id="54" name="Oval 13"/>
          <p:cNvSpPr/>
          <p:nvPr/>
        </p:nvSpPr>
        <p:spPr>
          <a:xfrm>
            <a:off x="11007360" y="5605920"/>
            <a:ext cx="653400" cy="653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accent5"/>
              </a:solidFill>
              <a:uFillTx/>
              <a:latin typeface="Trebuchet MS"/>
            </a:endParaRPr>
          </a:p>
        </p:txBody>
      </p:sp>
      <p:sp>
        <p:nvSpPr>
          <p:cNvPr id="55" name="Oval 15"/>
          <p:cNvSpPr/>
          <p:nvPr/>
        </p:nvSpPr>
        <p:spPr>
          <a:xfrm>
            <a:off x="10683720" y="6132600"/>
            <a:ext cx="250560" cy="2505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accent5"/>
              </a:solidFill>
              <a:uFillTx/>
              <a:latin typeface="Trebuchet MS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59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60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61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2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3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64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65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66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67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68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69" name="Date Placeholder 3"/>
          <p:cNvSpPr/>
          <p:nvPr/>
        </p:nvSpPr>
        <p:spPr>
          <a:xfrm>
            <a:off x="660240" y="637884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fld id="{B54256D7-671A-41DA-A658-79F4F69B4E89}" type="datetime1">
              <a:rPr b="0" lang="en-US" sz="1100" strike="noStrike" u="none">
                <a:solidFill>
                  <a:schemeClr val="accent2"/>
                </a:solidFill>
                <a:uFillTx/>
                <a:latin typeface="Trebuchet MS"/>
              </a:rPr>
              <a:t>09/08/2026</a:t>
            </a:fld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Footer Placeholder 4"/>
          <p:cNvSpPr/>
          <p:nvPr/>
        </p:nvSpPr>
        <p:spPr>
          <a:xfrm>
            <a:off x="1445400" y="637884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100" strike="noStrike" u="none">
                <a:solidFill>
                  <a:schemeClr val="accent2"/>
                </a:solidFill>
                <a:uFillTx/>
                <a:latin typeface="Trebuchet MS"/>
              </a:rPr>
              <a:t>Annual Review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Slide Number Placeholder 5"/>
          <p:cNvSpPr/>
          <p:nvPr/>
        </p:nvSpPr>
        <p:spPr>
          <a:xfrm>
            <a:off x="8805240" y="637884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404DA7CC-0830-4C77-ADAF-189BB75BAC69}" type="slidenum">
              <a:rPr b="0" lang="en-US" sz="1100" strike="noStrike" u="none">
                <a:solidFill>
                  <a:schemeClr val="accent4"/>
                </a:solidFill>
                <a:uFillTx/>
                <a:latin typeface="Trebuchet MS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Hexagon 8"/>
          <p:cNvSpPr/>
          <p:nvPr/>
        </p:nvSpPr>
        <p:spPr>
          <a:xfrm>
            <a:off x="546840" y="3467520"/>
            <a:ext cx="457560" cy="394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sp>
        <p:nvSpPr>
          <p:cNvPr id="73" name="Hexagon 9"/>
          <p:cNvSpPr/>
          <p:nvPr/>
        </p:nvSpPr>
        <p:spPr>
          <a:xfrm>
            <a:off x="11113200" y="2394720"/>
            <a:ext cx="357840" cy="30816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sp>
        <p:nvSpPr>
          <p:cNvPr id="74" name="Hexagon 10"/>
          <p:cNvSpPr/>
          <p:nvPr/>
        </p:nvSpPr>
        <p:spPr>
          <a:xfrm>
            <a:off x="10882800" y="2202120"/>
            <a:ext cx="230040" cy="198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318240" y="3832200"/>
            <a:ext cx="3399480" cy="86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233741"/>
                </a:solidFill>
                <a:uFillTx/>
                <a:latin typeface="Aptos"/>
              </a:rPr>
              <a:t>Aditya Bhagour</a:t>
            </a:r>
            <a:br>
              <a:rPr sz="2000"/>
            </a:br>
            <a:r>
              <a:rPr b="1" lang="en-US" sz="1800" strike="noStrike" u="none">
                <a:solidFill>
                  <a:srgbClr val="233741"/>
                </a:solidFill>
                <a:uFillTx/>
                <a:latin typeface="Aptos"/>
              </a:rPr>
              <a:t>GLA University, Mathura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678240" y="2844720"/>
            <a:ext cx="4997880" cy="7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rgbClr val="233741"/>
                </a:solidFill>
                <a:uFillTx/>
                <a:latin typeface="Aptos"/>
              </a:rPr>
              <a:t>Project Title -</a:t>
            </a:r>
            <a:br>
              <a:rPr sz="2800"/>
            </a:br>
            <a:r>
              <a:rPr b="1" lang="en-US" sz="2200" strike="noStrike" u="none">
                <a:solidFill>
                  <a:srgbClr val="233741"/>
                </a:solidFill>
                <a:uFillTx/>
                <a:latin typeface="Aptos"/>
              </a:rPr>
              <a:t>Seasonal Agriculture Performance Analysis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Text Placeholder 1"/>
          <p:cNvSpPr/>
          <p:nvPr/>
        </p:nvSpPr>
        <p:spPr>
          <a:xfrm>
            <a:off x="6400800" y="2793960"/>
            <a:ext cx="331128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1600" strike="noStrike" u="none">
                <a:solidFill>
                  <a:srgbClr val="237869"/>
                </a:solidFill>
                <a:uFillTx/>
                <a:latin typeface="Aptos"/>
              </a:rPr>
              <a:t>VOIS AICTE Batch 1</a:t>
            </a:r>
            <a:br>
              <a:rPr sz="2000"/>
            </a:br>
            <a:r>
              <a:rPr b="1" lang="en-US" sz="1600" strike="noStrike" u="none">
                <a:solidFill>
                  <a:srgbClr val="237869"/>
                </a:solidFill>
                <a:uFillTx/>
                <a:latin typeface="Aptos"/>
              </a:rPr>
              <a:t>2026–2027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6" name="Picture 5" descr=""/>
          <p:cNvPicPr/>
          <p:nvPr/>
        </p:nvPicPr>
        <p:blipFill>
          <a:blip r:embed="rId1"/>
          <a:srcRect l="0" t="96153" r="0" b="0"/>
          <a:stretch/>
        </p:blipFill>
        <p:spPr>
          <a:xfrm>
            <a:off x="676080" y="6472080"/>
            <a:ext cx="214236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Box 2"/>
          <p:cNvSpPr/>
          <p:nvPr/>
        </p:nvSpPr>
        <p:spPr>
          <a:xfrm>
            <a:off x="822960" y="4526280"/>
            <a:ext cx="54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Trebuchet MS"/>
              </a:rPr>
              <a:t>AICTE STU ID : STU6a5e59efebd351784568303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2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7" dur="5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/>
          </p:nvPr>
        </p:nvSpPr>
        <p:spPr>
          <a:xfrm>
            <a:off x="1046520" y="1875600"/>
            <a:ext cx="6430680" cy="360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50000"/>
              </a:lnSpc>
              <a:spcBef>
                <a:spcPts val="1001"/>
              </a:spcBef>
              <a:buClr>
                <a:srgbClr val="2e946b"/>
              </a:buClr>
              <a:buSzPct val="80000"/>
              <a:buFont typeface="Wingdings" charset="2"/>
              <a:buChar char=""/>
            </a:pPr>
            <a:r>
              <a:rPr b="0" lang="en-US" sz="1700" strike="noStrike" u="none">
                <a:solidFill>
                  <a:srgbClr val="233741"/>
                </a:solidFill>
                <a:uFillTx/>
                <a:latin typeface="Aptos"/>
              </a:rPr>
              <a:t>Agricultural performance varies with season, environmental conditions, farming practices, resource usage and market conditions. Raw farm-level data does not clearly reveal how yield, profitability and resource efficiency change across Kharif, Rabi and Zaid seasons.</a:t>
            </a:r>
            <a:br>
              <a:rPr sz="2000"/>
            </a:br>
            <a:br>
              <a:rPr sz="2000"/>
            </a:br>
            <a:r>
              <a:rPr b="0" lang="en-US" sz="1700" strike="noStrike" u="none">
                <a:solidFill>
                  <a:srgbClr val="233741"/>
                </a:solidFill>
                <a:uFillTx/>
                <a:latin typeface="Aptos"/>
              </a:rPr>
              <a:t>This project analyzes 4,000 farm records across 8 states and 8 crops to identify seasonal patterns, relationships, significant differences and actionable insights for evidence-based agricultural planning.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754560" y="550440"/>
            <a:ext cx="6994800" cy="78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233741"/>
                </a:solidFill>
                <a:uFillTx/>
                <a:latin typeface="Aptos"/>
              </a:rPr>
              <a:t>PROBLEM STATEMENT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0" name="Picture 4" descr=""/>
          <p:cNvPicPr/>
          <p:nvPr/>
        </p:nvPicPr>
        <p:blipFill>
          <a:blip r:embed="rId1"/>
          <a:stretch/>
        </p:blipFill>
        <p:spPr>
          <a:xfrm>
            <a:off x="7995600" y="2930760"/>
            <a:ext cx="2760120" cy="326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5" descr=""/>
          <p:cNvPicPr/>
          <p:nvPr/>
        </p:nvPicPr>
        <p:blipFill>
          <a:blip r:embed="rId2"/>
          <a:srcRect l="0" t="96153" r="0" b="0"/>
          <a:stretch/>
        </p:blipFill>
        <p:spPr>
          <a:xfrm>
            <a:off x="676080" y="6472080"/>
            <a:ext cx="2142360" cy="19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" dur="indefinite" restart="never" nodeType="tmRoot">
          <p:childTnLst>
            <p:seq>
              <p:cTn id="39" dur="indefinite" nodeType="mainSeq">
                <p:childTnLst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" dur="10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2" dur="1000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" dur="1000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60240" y="805320"/>
            <a:ext cx="6275520" cy="83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233741"/>
                </a:solidFill>
                <a:uFillTx/>
                <a:latin typeface="Aptos"/>
              </a:rPr>
              <a:t>Project Description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3" name="Picture 4" descr=""/>
          <p:cNvPicPr/>
          <p:nvPr/>
        </p:nvPicPr>
        <p:blipFill>
          <a:blip r:embed="rId1"/>
          <a:srcRect l="0" t="96153" r="0" b="0"/>
          <a:stretch/>
        </p:blipFill>
        <p:spPr>
          <a:xfrm>
            <a:off x="676080" y="6472080"/>
            <a:ext cx="2142360" cy="19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5" descr=""/>
          <p:cNvPicPr/>
          <p:nvPr/>
        </p:nvPicPr>
        <p:blipFill>
          <a:blip r:embed="rId2"/>
          <a:stretch/>
        </p:blipFill>
        <p:spPr>
          <a:xfrm>
            <a:off x="467280" y="6410520"/>
            <a:ext cx="3705480" cy="29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9"/>
          <p:cNvSpPr/>
          <p:nvPr/>
        </p:nvSpPr>
        <p:spPr>
          <a:xfrm>
            <a:off x="667440" y="2117160"/>
            <a:ext cx="9874800" cy="26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233741"/>
                </a:solidFill>
                <a:uFillTx/>
                <a:latin typeface="Aptos"/>
              </a:rPr>
              <a:t>The project performs a complete data analytics workflow on 4,000 farm records covering 8 Indian states, 8 crops and 3 seasons: Kharif, Rabi and Zaid.</a:t>
            </a:r>
            <a:br>
              <a:rPr sz="1800"/>
            </a:br>
            <a:br>
              <a:rPr sz="1800"/>
            </a:br>
            <a:r>
              <a:rPr b="0" lang="en-US" sz="1600" strike="noStrike" u="none">
                <a:solidFill>
                  <a:srgbClr val="233741"/>
                </a:solidFill>
                <a:uFillTx/>
                <a:latin typeface="Aptos"/>
              </a:rPr>
              <a:t>The notebook includes dataset understanding, data cleaning, missing-value handling, duplicate checks, outlier investigation using the IQR method, descriptive statistics, univariate/bivariate/multivariate analysis, correlation analysis and seasonal comparisons. A one-way ANOVA is used to test whether seasonal differences in yield and profit are statistically significant.</a:t>
            </a:r>
            <a:br>
              <a:rPr sz="1800"/>
            </a:br>
            <a:br>
              <a:rPr sz="1800"/>
            </a:br>
            <a:r>
              <a:rPr b="0" lang="en-US" sz="1600" strike="noStrike" u="none">
                <a:solidFill>
                  <a:srgbClr val="233741"/>
                </a:solidFill>
                <a:uFillTx/>
                <a:latin typeface="Aptos"/>
              </a:rPr>
              <a:t>The analysis then converts the findings into practical recommendations focused on yield, profitability, water efficiency and seasonal resource planning.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" dur="indefinite" restart="never" nodeType="tmRoot">
          <p:childTnLst>
            <p:seq>
              <p:cTn id="55" dur="indefinite" nodeType="mainSeq">
                <p:childTnLst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19920" y="876600"/>
            <a:ext cx="10045440" cy="80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233741"/>
                </a:solidFill>
                <a:uFillTx/>
                <a:latin typeface="Aptos"/>
              </a:rPr>
              <a:t>WHO ARE THE END USERS?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7" name="Picture 5" descr=""/>
          <p:cNvPicPr/>
          <p:nvPr/>
        </p:nvPicPr>
        <p:blipFill>
          <a:blip r:embed="rId1"/>
          <a:stretch/>
        </p:blipFill>
        <p:spPr>
          <a:xfrm>
            <a:off x="721440" y="6176880"/>
            <a:ext cx="2180520" cy="48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Box 16"/>
          <p:cNvSpPr/>
          <p:nvPr/>
        </p:nvSpPr>
        <p:spPr>
          <a:xfrm>
            <a:off x="445680" y="2470320"/>
            <a:ext cx="941760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73080" bIns="7308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700" strike="noStrike" u="none">
                <a:solidFill>
                  <a:srgbClr val="233741"/>
                </a:solidFill>
                <a:uFillTx/>
                <a:latin typeface="Aptos"/>
              </a:rPr>
              <a:t>Farmers &amp; farm managers — improve seasonal crop and resource decisions.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700" strike="noStrike" u="none">
                <a:solidFill>
                  <a:srgbClr val="233741"/>
                </a:solidFill>
                <a:uFillTx/>
                <a:latin typeface="Aptos"/>
              </a:rPr>
              <a:t>Agricultural planners — compare seasonal performance and identify risk areas.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700" strike="noStrike" u="none">
                <a:solidFill>
                  <a:srgbClr val="233741"/>
                </a:solidFill>
                <a:uFillTx/>
                <a:latin typeface="Aptos"/>
              </a:rPr>
              <a:t>Agribusinesses — understand profitability and resource-efficiency patterns.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700" strike="noStrike" u="none">
                <a:solidFill>
                  <a:srgbClr val="233741"/>
                </a:solidFill>
                <a:uFillTx/>
                <a:latin typeface="Aptos"/>
              </a:rPr>
              <a:t>Agricultural researchers — investigate crop, state and environmental relationships.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700" strike="noStrike" u="none">
                <a:solidFill>
                  <a:srgbClr val="233741"/>
                </a:solidFill>
                <a:uFillTx/>
                <a:latin typeface="Aptos"/>
              </a:rPr>
              <a:t>Data analysts / students — use the workflow as a reproducible agriculture analytics case study.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" dur="indefinite" restart="never" nodeType="tmRoot">
          <p:childTnLst>
            <p:seq>
              <p:cTn id="64" dur="indefinite" nodeType="mainSeq">
                <p:childTnLst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5" descr=""/>
          <p:cNvPicPr/>
          <p:nvPr/>
        </p:nvPicPr>
        <p:blipFill>
          <a:blip r:embed="rId1"/>
          <a:stretch/>
        </p:blipFill>
        <p:spPr>
          <a:xfrm>
            <a:off x="467280" y="6410520"/>
            <a:ext cx="3705480" cy="29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1" descr=""/>
          <p:cNvPicPr/>
          <p:nvPr/>
        </p:nvPicPr>
        <p:blipFill>
          <a:blip r:embed="rId2"/>
          <a:stretch/>
        </p:blipFill>
        <p:spPr>
          <a:xfrm flipH="1">
            <a:off x="51480" y="3820320"/>
            <a:ext cx="1726560" cy="30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PlaceHolder 1"/>
          <p:cNvSpPr>
            <a:spLocks noGrp="1"/>
          </p:cNvSpPr>
          <p:nvPr>
            <p:ph/>
          </p:nvPr>
        </p:nvSpPr>
        <p:spPr>
          <a:xfrm>
            <a:off x="390600" y="1432440"/>
            <a:ext cx="9027000" cy="52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660240" y="430560"/>
            <a:ext cx="5305680" cy="84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233741"/>
                </a:solidFill>
                <a:uFillTx/>
                <a:latin typeface="Aptos"/>
              </a:rPr>
              <a:t>Technology Used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Box 16"/>
          <p:cNvSpPr/>
          <p:nvPr/>
        </p:nvSpPr>
        <p:spPr>
          <a:xfrm>
            <a:off x="685800" y="1417320"/>
            <a:ext cx="4479840" cy="767880"/>
          </a:xfrm>
          <a:prstGeom prst="rect">
            <a:avLst/>
          </a:prstGeom>
          <a:solidFill>
            <a:srgbClr val="f2f7f6"/>
          </a:solidFill>
          <a:ln w="0">
            <a:solidFill>
              <a:srgbClr val="d7e1df"/>
            </a:solidFill>
          </a:ln>
        </p:spPr>
        <p:style>
          <a:lnRef idx="0"/>
          <a:fillRef idx="0"/>
          <a:effectRef idx="0"/>
          <a:fontRef idx="minor"/>
        </p:style>
        <p:txBody>
          <a:bodyPr lIns="109800" rIns="109800" tIns="109800" bIns="1098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Python</a:t>
            </a:r>
            <a:br>
              <a:rPr sz="1800"/>
            </a:b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Core programming &amp; analysis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TextBox 17"/>
          <p:cNvSpPr/>
          <p:nvPr/>
        </p:nvSpPr>
        <p:spPr>
          <a:xfrm>
            <a:off x="5577840" y="1417320"/>
            <a:ext cx="4479840" cy="767880"/>
          </a:xfrm>
          <a:prstGeom prst="rect">
            <a:avLst/>
          </a:prstGeom>
          <a:solidFill>
            <a:srgbClr val="f2f7f6"/>
          </a:solidFill>
          <a:ln w="0">
            <a:solidFill>
              <a:srgbClr val="d7e1df"/>
            </a:solidFill>
          </a:ln>
        </p:spPr>
        <p:style>
          <a:lnRef idx="0"/>
          <a:fillRef idx="0"/>
          <a:effectRef idx="0"/>
          <a:fontRef idx="minor"/>
        </p:style>
        <p:txBody>
          <a:bodyPr lIns="109800" rIns="109800" tIns="109800" bIns="1098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Pandas</a:t>
            </a:r>
            <a:br>
              <a:rPr sz="1800"/>
            </a:b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Data cleaning, grouping &amp; aggregation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TextBox 18"/>
          <p:cNvSpPr/>
          <p:nvPr/>
        </p:nvSpPr>
        <p:spPr>
          <a:xfrm>
            <a:off x="685800" y="2587680"/>
            <a:ext cx="4479840" cy="767880"/>
          </a:xfrm>
          <a:prstGeom prst="rect">
            <a:avLst/>
          </a:prstGeom>
          <a:solidFill>
            <a:srgbClr val="f2f7f6"/>
          </a:solidFill>
          <a:ln w="0">
            <a:solidFill>
              <a:srgbClr val="d7e1df"/>
            </a:solidFill>
          </a:ln>
        </p:spPr>
        <p:style>
          <a:lnRef idx="0"/>
          <a:fillRef idx="0"/>
          <a:effectRef idx="0"/>
          <a:fontRef idx="minor"/>
        </p:style>
        <p:txBody>
          <a:bodyPr lIns="109800" rIns="109800" tIns="109800" bIns="1098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NumPy</a:t>
            </a:r>
            <a:br>
              <a:rPr sz="1800"/>
            </a:b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Numerical computation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TextBox 19"/>
          <p:cNvSpPr/>
          <p:nvPr/>
        </p:nvSpPr>
        <p:spPr>
          <a:xfrm>
            <a:off x="5577840" y="2587680"/>
            <a:ext cx="4479840" cy="767880"/>
          </a:xfrm>
          <a:prstGeom prst="rect">
            <a:avLst/>
          </a:prstGeom>
          <a:solidFill>
            <a:srgbClr val="f2f7f6"/>
          </a:solidFill>
          <a:ln w="0">
            <a:solidFill>
              <a:srgbClr val="d7e1df"/>
            </a:solidFill>
          </a:ln>
        </p:spPr>
        <p:style>
          <a:lnRef idx="0"/>
          <a:fillRef idx="0"/>
          <a:effectRef idx="0"/>
          <a:fontRef idx="minor"/>
        </p:style>
        <p:txBody>
          <a:bodyPr lIns="109800" rIns="109800" tIns="109800" bIns="1098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Matplotlib</a:t>
            </a:r>
            <a:br>
              <a:rPr sz="1800"/>
            </a:b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Data visualization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TextBox 20"/>
          <p:cNvSpPr/>
          <p:nvPr/>
        </p:nvSpPr>
        <p:spPr>
          <a:xfrm>
            <a:off x="685800" y="3758040"/>
            <a:ext cx="4479840" cy="767880"/>
          </a:xfrm>
          <a:prstGeom prst="rect">
            <a:avLst/>
          </a:prstGeom>
          <a:solidFill>
            <a:srgbClr val="f2f7f6"/>
          </a:solidFill>
          <a:ln w="0">
            <a:solidFill>
              <a:srgbClr val="d7e1df"/>
            </a:solidFill>
          </a:ln>
        </p:spPr>
        <p:style>
          <a:lnRef idx="0"/>
          <a:fillRef idx="0"/>
          <a:effectRef idx="0"/>
          <a:fontRef idx="minor"/>
        </p:style>
        <p:txBody>
          <a:bodyPr lIns="109800" rIns="109800" tIns="109800" bIns="1098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Seaborn</a:t>
            </a:r>
            <a:br>
              <a:rPr sz="1800"/>
            </a:b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Statistical plots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Box 21"/>
          <p:cNvSpPr/>
          <p:nvPr/>
        </p:nvSpPr>
        <p:spPr>
          <a:xfrm>
            <a:off x="5577840" y="3758040"/>
            <a:ext cx="4479840" cy="767880"/>
          </a:xfrm>
          <a:prstGeom prst="rect">
            <a:avLst/>
          </a:prstGeom>
          <a:solidFill>
            <a:srgbClr val="f2f7f6"/>
          </a:solidFill>
          <a:ln w="0">
            <a:solidFill>
              <a:srgbClr val="d7e1df"/>
            </a:solidFill>
          </a:ln>
        </p:spPr>
        <p:style>
          <a:lnRef idx="0"/>
          <a:fillRef idx="0"/>
          <a:effectRef idx="0"/>
          <a:fontRef idx="minor"/>
        </p:style>
        <p:txBody>
          <a:bodyPr lIns="109800" rIns="109800" tIns="109800" bIns="1098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SciPy</a:t>
            </a:r>
            <a:br>
              <a:rPr sz="1800"/>
            </a:b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ANOVA &amp; statistical testing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TextBox 22"/>
          <p:cNvSpPr/>
          <p:nvPr/>
        </p:nvSpPr>
        <p:spPr>
          <a:xfrm>
            <a:off x="685800" y="4928760"/>
            <a:ext cx="4479840" cy="767880"/>
          </a:xfrm>
          <a:prstGeom prst="rect">
            <a:avLst/>
          </a:prstGeom>
          <a:solidFill>
            <a:srgbClr val="f2f7f6"/>
          </a:solidFill>
          <a:ln w="0">
            <a:solidFill>
              <a:srgbClr val="d7e1df"/>
            </a:solidFill>
          </a:ln>
        </p:spPr>
        <p:style>
          <a:lnRef idx="0"/>
          <a:fillRef idx="0"/>
          <a:effectRef idx="0"/>
          <a:fontRef idx="minor"/>
        </p:style>
        <p:txBody>
          <a:bodyPr lIns="109800" rIns="109800" tIns="109800" bIns="1098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Google Colab</a:t>
            </a:r>
            <a:br>
              <a:rPr sz="1800"/>
            </a:b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Notebook execution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TextBox 23"/>
          <p:cNvSpPr/>
          <p:nvPr/>
        </p:nvSpPr>
        <p:spPr>
          <a:xfrm>
            <a:off x="5577840" y="4928760"/>
            <a:ext cx="4479840" cy="767880"/>
          </a:xfrm>
          <a:prstGeom prst="rect">
            <a:avLst/>
          </a:prstGeom>
          <a:solidFill>
            <a:srgbClr val="f2f7f6"/>
          </a:solidFill>
          <a:ln w="0">
            <a:solidFill>
              <a:srgbClr val="d7e1df"/>
            </a:solidFill>
          </a:ln>
        </p:spPr>
        <p:style>
          <a:lnRef idx="0"/>
          <a:fillRef idx="0"/>
          <a:effectRef idx="0"/>
          <a:fontRef idx="minor"/>
        </p:style>
        <p:txBody>
          <a:bodyPr lIns="109800" rIns="109800" tIns="109800" bIns="1098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GitHub</a:t>
            </a:r>
            <a:br>
              <a:rPr sz="1800"/>
            </a:br>
            <a:r>
              <a:rPr b="1" lang="en-US" sz="1800" strike="noStrike" u="none">
                <a:solidFill>
                  <a:srgbClr val="237869"/>
                </a:solidFill>
                <a:uFillTx/>
                <a:latin typeface="Aptos"/>
              </a:rPr>
              <a:t>Dataset &amp; notebook version control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2" dur="indefinite" restart="never" nodeType="tmRoot">
          <p:childTnLst>
            <p:seq>
              <p:cTn id="73" dur="indefinite" nodeType="mainSeq">
                <p:childTnLst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42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8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" dur="10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6" dur="10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" dur="10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4" descr=""/>
          <p:cNvPicPr/>
          <p:nvPr/>
        </p:nvPicPr>
        <p:blipFill>
          <a:blip r:embed="rId1"/>
          <a:srcRect l="0" t="96153" r="0" b="0"/>
          <a:stretch/>
        </p:blipFill>
        <p:spPr>
          <a:xfrm>
            <a:off x="676080" y="6472080"/>
            <a:ext cx="214236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76080" y="370440"/>
            <a:ext cx="2980800" cy="83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233741"/>
                </a:solidFill>
                <a:uFillTx/>
                <a:latin typeface="Aptos"/>
              </a:rPr>
              <a:t>RESULTS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TextBox 30"/>
          <p:cNvSpPr/>
          <p:nvPr/>
        </p:nvSpPr>
        <p:spPr>
          <a:xfrm>
            <a:off x="3330720" y="1170360"/>
            <a:ext cx="531648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257c6c"/>
                </a:solidFill>
                <a:uFillTx/>
                <a:latin typeface="Aptos Display"/>
              </a:rPr>
              <a:t>Average Profit by State and Season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Rectangle 31"/>
          <p:cNvSpPr/>
          <p:nvPr/>
        </p:nvSpPr>
        <p:spPr>
          <a:xfrm>
            <a:off x="594360" y="1783080"/>
            <a:ext cx="10972080" cy="3976920"/>
          </a:xfrm>
          <a:prstGeom prst="rect">
            <a:avLst/>
          </a:prstGeom>
          <a:solidFill>
            <a:srgbClr val="f8fafa"/>
          </a:solidFill>
          <a:ln cap="rnd" w="15240">
            <a:solidFill>
              <a:srgbClr val="d2e1e1"/>
            </a:solidFill>
            <a:round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pic>
        <p:nvPicPr>
          <p:cNvPr id="115" name="Picture 32" descr="image.png"/>
          <p:cNvPicPr/>
          <p:nvPr/>
        </p:nvPicPr>
        <p:blipFill>
          <a:blip r:embed="rId2"/>
          <a:stretch/>
        </p:blipFill>
        <p:spPr>
          <a:xfrm>
            <a:off x="3389760" y="1938600"/>
            <a:ext cx="5380920" cy="361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Rectangle 33"/>
          <p:cNvSpPr/>
          <p:nvPr/>
        </p:nvSpPr>
        <p:spPr>
          <a:xfrm>
            <a:off x="777240" y="5925240"/>
            <a:ext cx="10652040" cy="502200"/>
          </a:xfrm>
          <a:prstGeom prst="rect">
            <a:avLst/>
          </a:prstGeom>
          <a:solidFill>
            <a:srgbClr val="eef7f5"/>
          </a:solidFill>
          <a:ln>
            <a:noFill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2d4141"/>
                </a:solidFill>
                <a:uFillTx/>
                <a:latin typeface="Aptos"/>
              </a:rPr>
              <a:t>State-level profitability varies strongly by season, with Zaid showing losses in most states.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TextBox 34"/>
          <p:cNvSpPr/>
          <p:nvPr/>
        </p:nvSpPr>
        <p:spPr>
          <a:xfrm>
            <a:off x="9049680" y="5486400"/>
            <a:ext cx="1101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6e6e6e"/>
                </a:solidFill>
                <a:uFillTx/>
                <a:latin typeface="Aptos"/>
              </a:rPr>
              <a:t>Notebook result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8" dur="indefinite" restart="never" nodeType="tmRoot">
          <p:childTnLst>
            <p:seq>
              <p:cTn id="89" dur="indefinite" nodeType="mainSeq">
                <p:childTnLst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4" descr=""/>
          <p:cNvPicPr/>
          <p:nvPr/>
        </p:nvPicPr>
        <p:blipFill>
          <a:blip r:embed="rId1"/>
          <a:srcRect l="0" t="96153" r="0" b="0"/>
          <a:stretch/>
        </p:blipFill>
        <p:spPr>
          <a:xfrm>
            <a:off x="676080" y="6472080"/>
            <a:ext cx="214236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76080" y="370440"/>
            <a:ext cx="2980800" cy="83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233741"/>
                </a:solidFill>
                <a:uFillTx/>
                <a:latin typeface="Aptos"/>
              </a:rPr>
              <a:t>RESULTS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TextBox 30"/>
          <p:cNvSpPr/>
          <p:nvPr/>
        </p:nvSpPr>
        <p:spPr>
          <a:xfrm>
            <a:off x="3403440" y="1170360"/>
            <a:ext cx="517068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257c6c"/>
                </a:solidFill>
                <a:uFillTx/>
                <a:latin typeface="Aptos Display"/>
              </a:rPr>
              <a:t>Distribution of Records by Season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Rectangle 31"/>
          <p:cNvSpPr/>
          <p:nvPr/>
        </p:nvSpPr>
        <p:spPr>
          <a:xfrm>
            <a:off x="594360" y="1783080"/>
            <a:ext cx="10972080" cy="3976920"/>
          </a:xfrm>
          <a:prstGeom prst="rect">
            <a:avLst/>
          </a:prstGeom>
          <a:solidFill>
            <a:srgbClr val="f8fafa"/>
          </a:solidFill>
          <a:ln cap="rnd" w="15240">
            <a:solidFill>
              <a:srgbClr val="d2e1e1"/>
            </a:solidFill>
            <a:round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pic>
        <p:nvPicPr>
          <p:cNvPr id="122" name="Picture 32" descr="image.png"/>
          <p:cNvPicPr/>
          <p:nvPr/>
        </p:nvPicPr>
        <p:blipFill>
          <a:blip r:embed="rId2"/>
          <a:stretch/>
        </p:blipFill>
        <p:spPr>
          <a:xfrm>
            <a:off x="3593880" y="1938600"/>
            <a:ext cx="4972680" cy="361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Rectangle 33"/>
          <p:cNvSpPr/>
          <p:nvPr/>
        </p:nvSpPr>
        <p:spPr>
          <a:xfrm>
            <a:off x="777240" y="5925240"/>
            <a:ext cx="10652040" cy="502200"/>
          </a:xfrm>
          <a:prstGeom prst="rect">
            <a:avLst/>
          </a:prstGeom>
          <a:solidFill>
            <a:srgbClr val="eef7f5"/>
          </a:solidFill>
          <a:ln>
            <a:noFill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2d4141"/>
                </a:solidFill>
                <a:uFillTx/>
                <a:latin typeface="Aptos"/>
              </a:rPr>
              <a:t>Kharif has the highest number of records, followed by Rabi and Zaid.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Box 34"/>
          <p:cNvSpPr/>
          <p:nvPr/>
        </p:nvSpPr>
        <p:spPr>
          <a:xfrm>
            <a:off x="9049680" y="5486400"/>
            <a:ext cx="1101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6e6e6e"/>
                </a:solidFill>
                <a:uFillTx/>
                <a:latin typeface="Aptos"/>
              </a:rPr>
              <a:t>Notebook result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4" descr=""/>
          <p:cNvPicPr/>
          <p:nvPr/>
        </p:nvPicPr>
        <p:blipFill>
          <a:blip r:embed="rId1"/>
          <a:srcRect l="0" t="96153" r="0" b="0"/>
          <a:stretch/>
        </p:blipFill>
        <p:spPr>
          <a:xfrm>
            <a:off x="676080" y="6472080"/>
            <a:ext cx="214236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76080" y="370440"/>
            <a:ext cx="2980800" cy="83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233741"/>
                </a:solidFill>
                <a:uFillTx/>
                <a:latin typeface="Aptos"/>
              </a:rPr>
              <a:t>RESULTS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Box 30"/>
          <p:cNvSpPr/>
          <p:nvPr/>
        </p:nvSpPr>
        <p:spPr>
          <a:xfrm>
            <a:off x="2697840" y="1170360"/>
            <a:ext cx="658188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257c6c"/>
                </a:solidFill>
                <a:uFillTx/>
                <a:latin typeface="Aptos Display"/>
              </a:rPr>
              <a:t>Rainfall, Temperature &amp; Humidity by Season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Rectangle 31"/>
          <p:cNvSpPr/>
          <p:nvPr/>
        </p:nvSpPr>
        <p:spPr>
          <a:xfrm>
            <a:off x="594360" y="1783080"/>
            <a:ext cx="10972080" cy="3976920"/>
          </a:xfrm>
          <a:prstGeom prst="rect">
            <a:avLst/>
          </a:prstGeom>
          <a:solidFill>
            <a:srgbClr val="f8fafa"/>
          </a:solidFill>
          <a:ln cap="rnd" w="15240">
            <a:solidFill>
              <a:srgbClr val="d2e1e1"/>
            </a:solidFill>
            <a:round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pic>
        <p:nvPicPr>
          <p:cNvPr id="129" name="Picture 32" descr="Screenshot 2026-09-04 214546.png"/>
          <p:cNvPicPr/>
          <p:nvPr/>
        </p:nvPicPr>
        <p:blipFill>
          <a:blip r:embed="rId2"/>
          <a:stretch/>
        </p:blipFill>
        <p:spPr>
          <a:xfrm>
            <a:off x="1603440" y="1938600"/>
            <a:ext cx="8953920" cy="361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Rectangle 33"/>
          <p:cNvSpPr/>
          <p:nvPr/>
        </p:nvSpPr>
        <p:spPr>
          <a:xfrm>
            <a:off x="777240" y="5925240"/>
            <a:ext cx="10652040" cy="502200"/>
          </a:xfrm>
          <a:prstGeom prst="rect">
            <a:avLst/>
          </a:prstGeom>
          <a:solidFill>
            <a:srgbClr val="eef7f5"/>
          </a:solidFill>
          <a:ln>
            <a:noFill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2d4141"/>
                </a:solidFill>
                <a:uFillTx/>
                <a:latin typeface="Aptos"/>
              </a:rPr>
              <a:t>Environmental conditions show clear seasonal patterns in rainfall, temperature and humidity.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TextBox 34"/>
          <p:cNvSpPr/>
          <p:nvPr/>
        </p:nvSpPr>
        <p:spPr>
          <a:xfrm>
            <a:off x="9049680" y="5486400"/>
            <a:ext cx="1101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6e6e6e"/>
                </a:solidFill>
                <a:uFillTx/>
                <a:latin typeface="Aptos"/>
              </a:rPr>
              <a:t>Notebook result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6" dur="indefinite" restart="never" nodeType="tmRoot">
          <p:childTnLst>
            <p:seq>
              <p:cTn id="107" dur="indefinite" nodeType="mainSeq">
                <p:childTnLst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4" descr=""/>
          <p:cNvPicPr/>
          <p:nvPr/>
        </p:nvPicPr>
        <p:blipFill>
          <a:blip r:embed="rId1"/>
          <a:srcRect l="0" t="96153" r="0" b="0"/>
          <a:stretch/>
        </p:blipFill>
        <p:spPr>
          <a:xfrm>
            <a:off x="676080" y="6472080"/>
            <a:ext cx="214236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76080" y="370440"/>
            <a:ext cx="2980800" cy="83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233741"/>
                </a:solidFill>
                <a:uFillTx/>
                <a:latin typeface="Aptos"/>
              </a:rPr>
              <a:t>RESULTS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TextBox 30"/>
          <p:cNvSpPr/>
          <p:nvPr/>
        </p:nvSpPr>
        <p:spPr>
          <a:xfrm>
            <a:off x="3927600" y="1170360"/>
            <a:ext cx="41223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257c6c"/>
                </a:solidFill>
                <a:uFillTx/>
                <a:latin typeface="Aptos Display"/>
              </a:rPr>
              <a:t>Rainfall vs Yield by Season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Rectangle 31"/>
          <p:cNvSpPr/>
          <p:nvPr/>
        </p:nvSpPr>
        <p:spPr>
          <a:xfrm>
            <a:off x="594360" y="1783080"/>
            <a:ext cx="10972080" cy="3976920"/>
          </a:xfrm>
          <a:prstGeom prst="rect">
            <a:avLst/>
          </a:prstGeom>
          <a:solidFill>
            <a:srgbClr val="f8fafa"/>
          </a:solidFill>
          <a:ln cap="rnd" w="15240">
            <a:solidFill>
              <a:srgbClr val="d2e1e1"/>
            </a:solidFill>
            <a:round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pic>
        <p:nvPicPr>
          <p:cNvPr id="136" name="Picture 32" descr="image.png"/>
          <p:cNvPicPr/>
          <p:nvPr/>
        </p:nvPicPr>
        <p:blipFill>
          <a:blip r:embed="rId2"/>
          <a:stretch/>
        </p:blipFill>
        <p:spPr>
          <a:xfrm>
            <a:off x="3361320" y="1938600"/>
            <a:ext cx="5437800" cy="361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ectangle 33"/>
          <p:cNvSpPr/>
          <p:nvPr/>
        </p:nvSpPr>
        <p:spPr>
          <a:xfrm>
            <a:off x="777240" y="5925240"/>
            <a:ext cx="10652040" cy="502200"/>
          </a:xfrm>
          <a:prstGeom prst="rect">
            <a:avLst/>
          </a:prstGeom>
          <a:solidFill>
            <a:srgbClr val="eef7f5"/>
          </a:solidFill>
          <a:ln>
            <a:noFill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2d4141"/>
                </a:solidFill>
                <a:uFillTx/>
                <a:latin typeface="Aptos"/>
              </a:rPr>
              <a:t>Rainfall alone has a very weak relationship with yield (r = 0.029), indicating that other factors matter more.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TextBox 34"/>
          <p:cNvSpPr/>
          <p:nvPr/>
        </p:nvSpPr>
        <p:spPr>
          <a:xfrm>
            <a:off x="9049680" y="5486400"/>
            <a:ext cx="1101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6e6e6e"/>
                </a:solidFill>
                <a:uFillTx/>
                <a:latin typeface="Aptos"/>
              </a:rPr>
              <a:t>Notebook result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5" dur="indefinite" restart="never" nodeType="tmRoot">
          <p:childTnLst>
            <p:seq>
              <p:cTn id="116" dur="indefinite" nodeType="mainSeq">
                <p:childTnLst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2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4" descr=""/>
          <p:cNvPicPr/>
          <p:nvPr/>
        </p:nvPicPr>
        <p:blipFill>
          <a:blip r:embed="rId1"/>
          <a:srcRect l="0" t="96153" r="0" b="0"/>
          <a:stretch/>
        </p:blipFill>
        <p:spPr>
          <a:xfrm>
            <a:off x="676080" y="6472080"/>
            <a:ext cx="214236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76080" y="370440"/>
            <a:ext cx="2980800" cy="83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233741"/>
                </a:solidFill>
                <a:uFillTx/>
                <a:latin typeface="Aptos"/>
              </a:rPr>
              <a:t>RESULTS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TextBox 30"/>
          <p:cNvSpPr/>
          <p:nvPr/>
        </p:nvSpPr>
        <p:spPr>
          <a:xfrm>
            <a:off x="2989080" y="1170360"/>
            <a:ext cx="59997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257c6c"/>
                </a:solidFill>
                <a:uFillTx/>
                <a:latin typeface="Aptos Display"/>
              </a:rPr>
              <a:t>Distribution of Yield, Production &amp; Profit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Rectangle 31"/>
          <p:cNvSpPr/>
          <p:nvPr/>
        </p:nvSpPr>
        <p:spPr>
          <a:xfrm>
            <a:off x="594360" y="1783080"/>
            <a:ext cx="10972080" cy="3976920"/>
          </a:xfrm>
          <a:prstGeom prst="rect">
            <a:avLst/>
          </a:prstGeom>
          <a:solidFill>
            <a:srgbClr val="f8fafa"/>
          </a:solidFill>
          <a:ln cap="rnd" w="15240">
            <a:solidFill>
              <a:srgbClr val="d2e1e1"/>
            </a:solidFill>
            <a:round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rebuchet MS"/>
            </a:endParaRPr>
          </a:p>
        </p:txBody>
      </p:sp>
      <p:pic>
        <p:nvPicPr>
          <p:cNvPr id="143" name="Picture 32" descr="Screenshot 2026-09-04 214430(1).png"/>
          <p:cNvPicPr/>
          <p:nvPr/>
        </p:nvPicPr>
        <p:blipFill>
          <a:blip r:embed="rId2"/>
          <a:stretch/>
        </p:blipFill>
        <p:spPr>
          <a:xfrm>
            <a:off x="1179720" y="1938600"/>
            <a:ext cx="9801360" cy="361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Rectangle 33"/>
          <p:cNvSpPr/>
          <p:nvPr/>
        </p:nvSpPr>
        <p:spPr>
          <a:xfrm>
            <a:off x="777240" y="5925240"/>
            <a:ext cx="10652040" cy="502200"/>
          </a:xfrm>
          <a:prstGeom prst="rect">
            <a:avLst/>
          </a:prstGeom>
          <a:solidFill>
            <a:srgbClr val="eef7f5"/>
          </a:solidFill>
          <a:ln>
            <a:noFill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2d4141"/>
                </a:solidFill>
                <a:uFillTx/>
                <a:latin typeface="Aptos"/>
              </a:rPr>
              <a:t>The distributions are right-skewed, with visible variation and outliers across key agricultural performance measures.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TextBox 34"/>
          <p:cNvSpPr/>
          <p:nvPr/>
        </p:nvSpPr>
        <p:spPr>
          <a:xfrm>
            <a:off x="9049680" y="5486400"/>
            <a:ext cx="1101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6e6e6e"/>
                </a:solidFill>
                <a:uFillTx/>
                <a:latin typeface="Aptos"/>
              </a:rPr>
              <a:t>Notebook result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4" dur="indefinite" restart="never" nodeType="tmRoot">
          <p:childTnLst>
            <p:seq>
              <p:cTn id="125" dur="indefinite" nodeType="mainSeq">
                <p:childTnLst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3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4" descr=""/>
          <p:cNvPicPr/>
          <p:nvPr/>
        </p:nvPicPr>
        <p:blipFill>
          <a:blip r:embed="rId1"/>
          <a:srcRect l="0" t="96153" r="0" b="0"/>
          <a:stretch/>
        </p:blipFill>
        <p:spPr>
          <a:xfrm>
            <a:off x="676080" y="6472080"/>
            <a:ext cx="214236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76080" y="370440"/>
            <a:ext cx="4735080" cy="83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233741"/>
                </a:solidFill>
                <a:uFillTx/>
                <a:latin typeface="Aptos"/>
              </a:rPr>
              <a:t>Future Scope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Text Placeholder 30"/>
          <p:cNvSpPr/>
          <p:nvPr/>
        </p:nvSpPr>
        <p:spPr>
          <a:xfrm>
            <a:off x="321120" y="1275480"/>
            <a:ext cx="334296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uFillTx/>
              <a:latin typeface="Trebuchet MS"/>
            </a:endParaRPr>
          </a:p>
        </p:txBody>
      </p:sp>
      <p:sp>
        <p:nvSpPr>
          <p:cNvPr id="149" name="Text Placeholder 30"/>
          <p:cNvSpPr/>
          <p:nvPr/>
        </p:nvSpPr>
        <p:spPr>
          <a:xfrm>
            <a:off x="4345560" y="1275480"/>
            <a:ext cx="334296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uFillTx/>
              <a:latin typeface="Trebuchet MS"/>
            </a:endParaRPr>
          </a:p>
        </p:txBody>
      </p:sp>
      <p:sp>
        <p:nvSpPr>
          <p:cNvPr id="150" name="TextBox 23"/>
          <p:cNvSpPr/>
          <p:nvPr/>
        </p:nvSpPr>
        <p:spPr>
          <a:xfrm>
            <a:off x="285120" y="2085840"/>
            <a:ext cx="9874800" cy="20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73080" bIns="7308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600" strike="noStrike" u="none">
                <a:solidFill>
                  <a:srgbClr val="233741"/>
                </a:solidFill>
                <a:uFillTx/>
                <a:latin typeface="Aptos"/>
              </a:rPr>
              <a:t>Build an interactive Power BI/Tableau dashboard for seasonal monitoring.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600" strike="noStrike" u="none">
                <a:solidFill>
                  <a:srgbClr val="233741"/>
                </a:solidFill>
                <a:uFillTx/>
                <a:latin typeface="Aptos"/>
              </a:rPr>
              <a:t>Add multi-year data to validate seasonal trends over time.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600" strike="noStrike" u="none">
                <a:solidFill>
                  <a:srgbClr val="233741"/>
                </a:solidFill>
                <a:uFillTx/>
                <a:latin typeface="Aptos"/>
              </a:rPr>
              <a:t>Develop predictive models for yield and profitability.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600" strike="noStrike" u="none">
                <a:solidFill>
                  <a:srgbClr val="233741"/>
                </a:solidFill>
                <a:uFillTx/>
                <a:latin typeface="Aptos"/>
              </a:rPr>
              <a:t>Investigate the practices behind profitable Zaid states.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600" strike="noStrike" u="none">
                <a:solidFill>
                  <a:srgbClr val="233741"/>
                </a:solidFill>
                <a:uFillTx/>
                <a:latin typeface="Aptos"/>
              </a:rPr>
              <a:t>Add real-time weather, market-price and irrigation data.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600" strike="noStrike" u="none">
                <a:solidFill>
                  <a:srgbClr val="233741"/>
                </a:solidFill>
                <a:uFillTx/>
                <a:latin typeface="Aptos"/>
              </a:rPr>
              <a:t>Use advanced statistical / machine-learning models for scenario analysis.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3" dur="indefinite" restart="never" nodeType="tmRoot">
          <p:childTnLst>
            <p:seq>
              <p:cTn id="134" dur="indefinite" nodeType="mainSeq">
                <p:childTnLst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9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4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nodeType="clickEffect" fill="hold" presetClass="entr" presetID="42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1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6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7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8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42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1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3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4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5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4" descr=""/>
          <p:cNvPicPr/>
          <p:nvPr/>
        </p:nvPicPr>
        <p:blipFill>
          <a:blip r:embed="rId1"/>
          <a:srcRect l="0" t="96153" r="0" b="0"/>
          <a:stretch/>
        </p:blipFill>
        <p:spPr>
          <a:xfrm>
            <a:off x="676080" y="6472080"/>
            <a:ext cx="214236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76080" y="370440"/>
            <a:ext cx="4735080" cy="83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233741"/>
                </a:solidFill>
                <a:uFillTx/>
                <a:latin typeface="Aptos"/>
              </a:rPr>
              <a:t>GitHub Repository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Text Placeholder 30"/>
          <p:cNvSpPr/>
          <p:nvPr/>
        </p:nvSpPr>
        <p:spPr>
          <a:xfrm>
            <a:off x="321120" y="1275480"/>
            <a:ext cx="334296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uFillTx/>
              <a:latin typeface="Trebuchet MS"/>
            </a:endParaRPr>
          </a:p>
        </p:txBody>
      </p:sp>
      <p:sp>
        <p:nvSpPr>
          <p:cNvPr id="154" name="Text Placeholder 30"/>
          <p:cNvSpPr/>
          <p:nvPr/>
        </p:nvSpPr>
        <p:spPr>
          <a:xfrm>
            <a:off x="4345560" y="1275480"/>
            <a:ext cx="334296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uFillTx/>
              <a:latin typeface="Trebuchet MS"/>
            </a:endParaRPr>
          </a:p>
        </p:txBody>
      </p:sp>
      <p:sp>
        <p:nvSpPr>
          <p:cNvPr id="155" name="TextBox 23"/>
          <p:cNvSpPr/>
          <p:nvPr/>
        </p:nvSpPr>
        <p:spPr>
          <a:xfrm>
            <a:off x="685800" y="1417320"/>
            <a:ext cx="9783360" cy="511560"/>
          </a:xfrm>
          <a:prstGeom prst="rect">
            <a:avLst/>
          </a:prstGeom>
          <a:solidFill>
            <a:srgbClr val="f2f7f6"/>
          </a:solidFill>
          <a:ln w="0">
            <a:solidFill>
              <a:srgbClr val="d7e1df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237869"/>
                </a:solidFill>
                <a:uFillTx/>
                <a:latin typeface="Aptos"/>
              </a:rPr>
              <a:t>Seasonal Agriculture Performance Analysis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TextBox 24"/>
          <p:cNvSpPr/>
          <p:nvPr/>
        </p:nvSpPr>
        <p:spPr>
          <a:xfrm>
            <a:off x="685800" y="2743200"/>
            <a:ext cx="9783360" cy="374400"/>
          </a:xfrm>
          <a:prstGeom prst="rect">
            <a:avLst/>
          </a:prstGeom>
          <a:solidFill>
            <a:srgbClr val="f2f7f6"/>
          </a:solidFill>
          <a:ln w="0">
            <a:solidFill>
              <a:srgbClr val="d7e1df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uFillTx/>
                <a:latin typeface="Trebuchet MS"/>
              </a:rPr>
              <a:t>https://github.com/AdityaBhagour19/seasonal-agriculture-performance-analysis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TextBox 25"/>
          <p:cNvSpPr/>
          <p:nvPr/>
        </p:nvSpPr>
        <p:spPr>
          <a:xfrm>
            <a:off x="1005840" y="4160520"/>
            <a:ext cx="914328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5a696e"/>
                </a:solidFill>
                <a:uFillTx/>
                <a:latin typeface="Aptos"/>
              </a:rPr>
              <a:t>Repository contains the analysis notebook, dataset and project documentation.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6" dur="indefinite" restart="never" nodeType="tmRoot">
          <p:childTnLst>
            <p:seq>
              <p:cTn id="157" dur="indefinite" nodeType="mainSeq">
                <p:childTnLst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2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42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1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9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70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1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42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17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6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77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8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4" descr=""/>
          <p:cNvPicPr/>
          <p:nvPr/>
        </p:nvPicPr>
        <p:blipFill>
          <a:blip r:embed="rId1"/>
          <a:srcRect l="0" t="96153" r="0" b="0"/>
          <a:stretch/>
        </p:blipFill>
        <p:spPr>
          <a:xfrm>
            <a:off x="676080" y="6472080"/>
            <a:ext cx="214236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76080" y="370440"/>
            <a:ext cx="8350560" cy="88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trike="noStrike" u="none">
                <a:solidFill>
                  <a:srgbClr val="233741"/>
                </a:solidFill>
                <a:uFillTx/>
                <a:latin typeface="Aptos"/>
              </a:rPr>
              <a:t>VOIS Course Completion Certificate</a:t>
            </a:r>
            <a:br>
              <a:rPr sz="4800"/>
            </a:br>
            <a:r>
              <a:rPr b="1" lang="en-US" sz="2500" strike="noStrike" u="none">
                <a:solidFill>
                  <a:srgbClr val="233741"/>
                </a:solidFill>
                <a:uFillTx/>
                <a:latin typeface="Aptos"/>
              </a:rPr>
              <a:t>Course name – Data Visualization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Text Placeholder 30"/>
          <p:cNvSpPr/>
          <p:nvPr/>
        </p:nvSpPr>
        <p:spPr>
          <a:xfrm>
            <a:off x="321120" y="1275480"/>
            <a:ext cx="334296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uFillTx/>
              <a:latin typeface="Trebuchet MS"/>
            </a:endParaRPr>
          </a:p>
        </p:txBody>
      </p:sp>
      <p:sp>
        <p:nvSpPr>
          <p:cNvPr id="161" name="Text Placeholder 30"/>
          <p:cNvSpPr/>
          <p:nvPr/>
        </p:nvSpPr>
        <p:spPr>
          <a:xfrm>
            <a:off x="4345560" y="1275480"/>
            <a:ext cx="334296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uFillTx/>
              <a:latin typeface="Trebuchet MS"/>
            </a:endParaRPr>
          </a:p>
        </p:txBody>
      </p:sp>
      <p:pic>
        <p:nvPicPr>
          <p:cNvPr id="162" name="Picture 23" descr="cert-1.png"/>
          <p:cNvPicPr/>
          <p:nvPr/>
        </p:nvPicPr>
        <p:blipFill>
          <a:blip r:embed="rId2"/>
          <a:stretch/>
        </p:blipFill>
        <p:spPr>
          <a:xfrm>
            <a:off x="2743200" y="1417320"/>
            <a:ext cx="5851440" cy="41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Box 24"/>
          <p:cNvSpPr/>
          <p:nvPr/>
        </p:nvSpPr>
        <p:spPr>
          <a:xfrm>
            <a:off x="822960" y="5669280"/>
            <a:ext cx="9600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a696e"/>
                </a:solidFill>
                <a:uFillTx/>
                <a:latin typeface="Aptos"/>
              </a:rPr>
              <a:t>Certificate ID: VFLMS26_160934  |  Completed: August 13, 2026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9" dur="indefinite" restart="never" nodeType="tmRoot">
          <p:childTnLst>
            <p:seq>
              <p:cTn id="180" dur="indefinite" nodeType="mainSeq">
                <p:childTnLst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5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6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8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nodeType="clickEffect" fill="hold" presetClass="entr" presetID="42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19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2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93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4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42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19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9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0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1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32000" y="647640"/>
            <a:ext cx="11339280" cy="6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0000"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trike="noStrike" u="none">
                <a:solidFill>
                  <a:srgbClr val="233741"/>
                </a:solidFill>
                <a:uFillTx/>
                <a:latin typeface="Aptos"/>
              </a:rPr>
              <a:t>Thank You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Text Placeholder 28"/>
          <p:cNvSpPr/>
          <p:nvPr/>
        </p:nvSpPr>
        <p:spPr>
          <a:xfrm>
            <a:off x="878400" y="4134960"/>
            <a:ext cx="259596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1" lang="en-US" sz="2000" strike="noStrike" u="none">
              <a:solidFill>
                <a:schemeClr val="accent4"/>
              </a:solidFill>
              <a:uFillTx/>
              <a:latin typeface="Trebuchet MS"/>
            </a:endParaRPr>
          </a:p>
        </p:txBody>
      </p:sp>
      <p:sp>
        <p:nvSpPr>
          <p:cNvPr id="166" name="Text Placeholder 28"/>
          <p:cNvSpPr/>
          <p:nvPr/>
        </p:nvSpPr>
        <p:spPr>
          <a:xfrm>
            <a:off x="5353560" y="3962520"/>
            <a:ext cx="259596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1" lang="en-US" sz="2000" strike="noStrike" u="none">
              <a:solidFill>
                <a:schemeClr val="accent4"/>
              </a:solidFill>
              <a:uFillTx/>
              <a:latin typeface="Trebuchet MS"/>
            </a:endParaRPr>
          </a:p>
        </p:txBody>
      </p:sp>
      <p:sp>
        <p:nvSpPr>
          <p:cNvPr id="167" name="Text Placeholder 28"/>
          <p:cNvSpPr/>
          <p:nvPr/>
        </p:nvSpPr>
        <p:spPr>
          <a:xfrm>
            <a:off x="7789320" y="3962520"/>
            <a:ext cx="259596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1" lang="en-US" sz="2000" strike="noStrike" u="none">
              <a:solidFill>
                <a:schemeClr val="accent4"/>
              </a:solidFill>
              <a:uFillTx/>
              <a:latin typeface="Trebuchet MS"/>
            </a:endParaRPr>
          </a:p>
        </p:txBody>
      </p:sp>
      <p:sp>
        <p:nvSpPr>
          <p:cNvPr id="168" name="Text Placeholder 30"/>
          <p:cNvSpPr/>
          <p:nvPr/>
        </p:nvSpPr>
        <p:spPr>
          <a:xfrm>
            <a:off x="6095880" y="4641840"/>
            <a:ext cx="2139120" cy="11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uFillTx/>
              <a:latin typeface="Trebuchet MS"/>
            </a:endParaRPr>
          </a:p>
        </p:txBody>
      </p:sp>
      <p:sp>
        <p:nvSpPr>
          <p:cNvPr id="169" name="Text Placeholder 30"/>
          <p:cNvSpPr/>
          <p:nvPr/>
        </p:nvSpPr>
        <p:spPr>
          <a:xfrm>
            <a:off x="8591400" y="4641840"/>
            <a:ext cx="2139120" cy="11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uFillTx/>
              <a:latin typeface="Trebuchet MS"/>
            </a:endParaRPr>
          </a:p>
        </p:txBody>
      </p:sp>
      <p:pic>
        <p:nvPicPr>
          <p:cNvPr id="170" name="Picture 14" descr=""/>
          <p:cNvPicPr/>
          <p:nvPr/>
        </p:nvPicPr>
        <p:blipFill>
          <a:blip r:embed="rId1"/>
          <a:srcRect l="0" t="96153" r="0" b="0"/>
          <a:stretch/>
        </p:blipFill>
        <p:spPr>
          <a:xfrm>
            <a:off x="676080" y="6472080"/>
            <a:ext cx="214236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Box 45"/>
          <p:cNvSpPr/>
          <p:nvPr/>
        </p:nvSpPr>
        <p:spPr>
          <a:xfrm>
            <a:off x="1828800" y="2743200"/>
            <a:ext cx="8228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237869"/>
                </a:solidFill>
                <a:uFillTx/>
                <a:latin typeface="Aptos"/>
              </a:rPr>
              <a:t>Aditya Bhagour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TextBox 46"/>
          <p:cNvSpPr/>
          <p:nvPr/>
        </p:nvSpPr>
        <p:spPr>
          <a:xfrm>
            <a:off x="1828800" y="3520440"/>
            <a:ext cx="8228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233741"/>
                </a:solidFill>
                <a:uFillTx/>
                <a:latin typeface="Aptos"/>
              </a:rPr>
              <a:t>Seasonal Agriculture Performance Analysis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TextBox 47"/>
          <p:cNvSpPr/>
          <p:nvPr/>
        </p:nvSpPr>
        <p:spPr>
          <a:xfrm>
            <a:off x="1188720" y="4297680"/>
            <a:ext cx="960048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5a696e"/>
                </a:solidFill>
                <a:uFillTx/>
                <a:latin typeface="Aptos"/>
              </a:rPr>
              <a:t>GitHub: github.com/AdityaBhagour19/seasonal-agriculture-performance-analysis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2" dur="indefinite" restart="never" nodeType="tmRoot">
          <p:childTnLst>
            <p:seq>
              <p:cTn id="203" dur="indefinite" nodeType="mainSeq">
                <p:childTnLst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9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1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2" presetSubtype="4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2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5"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21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2" presetSubtype="4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2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1"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22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2" presetSubtype="4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2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7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22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2" presetSubtype="4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2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3"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23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9"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24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558</TotalTime>
  <Application>LibreOfficeDev/24.8.7.2.0$Android_AARCH64 LibreOffice_project/</Application>
  <AppVersion>15.0000</AppVersion>
  <Words>71</Words>
  <Paragraphs>18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2021-07-11T13:13:15Z</dcterms:created>
  <dc:creator>Venkataswamy</dc:creator>
  <dc:description/>
  <dc:language>en-US</dc:language>
  <cp:lastModifiedBy/>
  <dcterms:modified xsi:type="dcterms:W3CDTF">2026-09-08T11:51:41Z</dcterms:modified>
  <cp:revision>98</cp:revision>
  <dc:subject/>
  <dc:title>MASKED HUNTERS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</vt:i4>
  </property>
  <property fmtid="{D5CDD505-2E9C-101B-9397-08002B2CF9AE}" pid="4" name="PresentationFormat">
    <vt:lpwstr>Widescreen</vt:lpwstr>
  </property>
  <property fmtid="{D5CDD505-2E9C-101B-9397-08002B2CF9AE}" pid="5" name="Slides">
    <vt:i4>14</vt:i4>
  </property>
</Properties>
</file>